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181C23"/>
                </a:solidFill>
                <a:latin typeface="Aptos"/>
              </a:rPr>
              <a:t>CycleSense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5C6370"/>
                </a:solidFill>
                <a:latin typeface="Aptos"/>
              </a:rPr>
              <a:t>From cycle history to a personalized next-cycle estimate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057400" cy="329184"/>
          </a:xfrm>
          <a:prstGeom prst="roundRect">
            <a:avLst/>
          </a:prstGeom>
          <a:solidFill>
            <a:srgbClr val="E8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6148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85BB4"/>
                </a:solidFill>
                <a:latin typeface="Aptos"/>
              </a:rPr>
              <a:t>EDUCATIONAL ML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20574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1304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485BB4"/>
                </a:solidFill>
                <a:latin typeface="Aptos"/>
              </a:rPr>
              <a:t>1.70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25112"/>
            <a:ext cx="17282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MAE • best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703320"/>
            <a:ext cx="20574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381304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7453AC"/>
                </a:solidFill>
                <a:latin typeface="Aptos"/>
              </a:rPr>
              <a:t>17,976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4325112"/>
            <a:ext cx="17282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cycle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703320"/>
            <a:ext cx="20574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381304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8264"/>
                </a:solidFill>
                <a:latin typeface="Aptos"/>
              </a:rPr>
              <a:t>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4325112"/>
            <a:ext cx="17282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00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85BB4"/>
                </a:solidFill>
                <a:latin typeface="Aptos"/>
              </a:rPr>
              <a:t>Product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138928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81C23"/>
                </a:solidFill>
                <a:latin typeface="Aptos"/>
              </a:rPr>
              <a:t>Problem → solution → proof → live demo →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A calendar gives a date. It doesn't learn the person.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The problem CycleSense is designed to address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3566160"/>
          </a:xfrm>
          <a:prstGeom prst="rect">
            <a:avLst/>
          </a:prstGeom>
          <a:solidFill>
            <a:srgbClr val="BE4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Fixed-calendar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Treats cycle length as if it were stable.
Individual history gets flattened into a generic estimate.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64008" cy="3566160"/>
          </a:xfrm>
          <a:prstGeom prst="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0136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What actually varies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40280"/>
            <a:ext cx="30175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Cycle length varies across people and across cycles.
Lifestyle, stress, health factors and personal history can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64008" cy="3566160"/>
          </a:xfrm>
          <a:prstGeom prst="rect">
            <a:avLst/>
          </a:prstGeom>
          <a:solidFill>
            <a:srgbClr val="2D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0136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Product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30175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Use information already available at prediction time to recognize each user's pattern.
Goal: estimate the next cycle length.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The product: an explainable estimate, not a black 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CycleSense combines profile context with a user's cycle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240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64008" cy="2057400"/>
          </a:xfrm>
          <a:prstGeom prst="rect">
            <a:avLst/>
          </a:prstGeom>
          <a:solidFill>
            <a:srgbClr val="48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USER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age • BMI •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57860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85B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74519"/>
            <a:ext cx="2240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874519"/>
            <a:ext cx="64008" cy="2057400"/>
          </a:xfrm>
          <a:prstGeom prst="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0756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CYCLE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5146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current + previous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57860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85BB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74519"/>
            <a:ext cx="2240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874519"/>
            <a:ext cx="64008" cy="2057400"/>
          </a:xfrm>
          <a:prstGeom prst="rect">
            <a:avLst/>
          </a:prstGeom>
          <a:solidFill>
            <a:srgbClr val="2D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0756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146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history • interactions • 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57860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85BB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1874519"/>
            <a:ext cx="2240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874519"/>
            <a:ext cx="64008" cy="2057400"/>
          </a:xfrm>
          <a:prstGeom prst="rect">
            <a:avLst/>
          </a:prstGeom>
          <a:solidFill>
            <a:srgbClr val="48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0756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ML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5146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next cycle length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709160"/>
            <a:ext cx="8321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1C23"/>
                </a:solidFill>
                <a:latin typeface="Aptos"/>
              </a:rPr>
              <a:t>And the system explains which features contributed most to the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The key design choice: engineer history without leaking the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Feature engineering focuses on information available when the prediction is made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3794760"/>
          </a:xfrm>
          <a:prstGeom prst="rect">
            <a:avLst/>
          </a:prstGeom>
          <a:solidFill>
            <a:srgbClr val="48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01  Historical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39"/>
            <a:ext cx="3063239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Lag 1 / 2 / 3
Rolling mean &amp; variability over 3 and 5 cycles
Cycle-to-cycle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508760"/>
            <a:ext cx="347472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508760"/>
            <a:ext cx="64008" cy="3794760"/>
          </a:xfrm>
          <a:prstGeom prst="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09928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02 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48839"/>
            <a:ext cx="3063239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Profile variables
Baseline stress and lifestyle
Cross-source deltas such as stress and sleep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508760"/>
            <a:ext cx="347472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508760"/>
            <a:ext cx="64008" cy="3794760"/>
          </a:xfrm>
          <a:prstGeom prst="rect">
            <a:avLst/>
          </a:prstGeom>
          <a:solidFill>
            <a:srgbClr val="2D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709928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03 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148839"/>
            <a:ext cx="3063239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Month • quarter • day of year
Cyclical month encoding preserves December ↔ January adjacency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5623560"/>
            <a:ext cx="2788920" cy="329184"/>
          </a:xfrm>
          <a:prstGeom prst="roundRect">
            <a:avLst/>
          </a:prstGeom>
          <a:solidFill>
            <a:srgbClr val="E8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5641848"/>
            <a:ext cx="2788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85BB4"/>
                </a:solidFill>
                <a:latin typeface="Aptos"/>
              </a:rPr>
              <a:t>NO FUTURE CYCLE 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Leakage prevention is part of the product, not a footnote.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34 source features were audited by prediction-time availability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468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21396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8264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30552"/>
            <a:ext cx="2139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08760"/>
            <a:ext cx="2468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618488"/>
            <a:ext cx="21396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7453AC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2130552"/>
            <a:ext cx="2139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CONDITIONAL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08760"/>
            <a:ext cx="2468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618488"/>
            <a:ext cx="21396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BE4C52"/>
                </a:solidFill>
                <a:latin typeface="Apto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2130552"/>
            <a:ext cx="2139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EXCLUDED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508760"/>
            <a:ext cx="2468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2" y="1618488"/>
            <a:ext cx="21396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5C637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130552"/>
            <a:ext cx="2139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IDENTIFIER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C23"/>
                </a:solidFill>
                <a:latin typeface="Aptos"/>
              </a:rPr>
              <a:t>Production uses the strict 14-feature 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81C23"/>
                </a:solidFill>
                <a:latin typeface="Aptos"/>
              </a:defRPr>
            </a:pPr>
            <a:r>
              <a:t>• Profile + baseline information</a:t>
            </a:r>
          </a:p>
          <a:p>
            <a:pPr>
              <a:spcAft>
                <a:spcPts val="800"/>
              </a:spcAft>
              <a:defRPr sz="1350">
                <a:solidFill>
                  <a:srgbClr val="181C23"/>
                </a:solidFill>
                <a:latin typeface="Aptos"/>
              </a:defRPr>
            </a:pPr>
            <a:r>
              <a:t>• Current and previous cycle length</a:t>
            </a:r>
          </a:p>
          <a:p>
            <a:pPr>
              <a:spcAft>
                <a:spcPts val="800"/>
              </a:spcAft>
              <a:defRPr sz="1350">
                <a:solidFill>
                  <a:srgbClr val="181C23"/>
                </a:solidFill>
                <a:latin typeface="Aptos"/>
              </a:defRPr>
            </a:pPr>
            <a:r>
              <a:t>• No hormone measurements or post-cycle assessments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632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C23"/>
                </a:solidFill>
                <a:latin typeface="Aptos"/>
              </a:rPr>
              <a:t>Why this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370"/>
                </a:solidFill>
                <a:latin typeface="Aptos"/>
              </a:rPr>
              <a:t>A model can look better on paper if it sees information that would not exist at prediction time. CycleSense explicitly audits that boundary.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The model earned its place through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Same task • same evaluation frame • lower error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Global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508760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C6370"/>
                </a:solidFill>
                <a:latin typeface="Aptos"/>
              </a:rPr>
              <a:t>1.94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508760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C6370"/>
                </a:solidFill>
                <a:latin typeface="Aptos"/>
              </a:rPr>
              <a:t>2.49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36192"/>
            <a:ext cx="2423160" cy="256032"/>
          </a:xfrm>
          <a:prstGeom prst="roundRect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21991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Previous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221991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E4C52"/>
                </a:solidFill>
                <a:latin typeface="Aptos"/>
              </a:rPr>
              <a:t>2.30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221991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C6370"/>
                </a:solidFill>
                <a:latin typeface="Aptos"/>
              </a:rPr>
              <a:t>2.87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249423"/>
            <a:ext cx="1435608" cy="256032"/>
          </a:xfrm>
          <a:prstGeom prst="roundRect">
            <a:avLst/>
          </a:prstGeom>
          <a:solidFill>
            <a:srgbClr val="BE4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35224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Linear / 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935224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85BB4"/>
                </a:solidFill>
                <a:latin typeface="Aptos"/>
              </a:rPr>
              <a:t>1.74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935224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C6370"/>
                </a:solidFill>
                <a:latin typeface="Aptos"/>
              </a:rPr>
              <a:t>2.24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962656"/>
            <a:ext cx="2971800" cy="256032"/>
          </a:xfrm>
          <a:prstGeom prst="roundRect">
            <a:avLst/>
          </a:prstGeom>
          <a:solidFill>
            <a:srgbClr val="48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648456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453AC"/>
                </a:solidFill>
                <a:latin typeface="Aptos"/>
              </a:rPr>
              <a:t>1.73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648456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C6370"/>
                </a:solidFill>
                <a:latin typeface="Aptos"/>
              </a:rPr>
              <a:t>2.21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675888"/>
            <a:ext cx="2999232" cy="256032"/>
          </a:xfrm>
          <a:prstGeom prst="round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61688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Gradient Boosting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361688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8264"/>
                </a:solidFill>
                <a:latin typeface="Aptos"/>
              </a:rPr>
              <a:t>1.70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361688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C6370"/>
                </a:solidFill>
                <a:latin typeface="Aptos"/>
              </a:rPr>
              <a:t>2.18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389120"/>
            <a:ext cx="3081528" cy="256032"/>
          </a:xfrm>
          <a:prstGeom prst="roundRect">
            <a:avLst/>
          </a:prstGeom>
          <a:solidFill>
            <a:srgbClr val="2D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11430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370"/>
                </a:solidFill>
                <a:latin typeface="Aptos"/>
              </a:rPr>
              <a:t>MAE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1430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370"/>
                </a:solidFill>
                <a:latin typeface="Aptos"/>
              </a:rPr>
              <a:t>RMSE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1C23"/>
                </a:solidFill>
                <a:latin typeface="Aptos"/>
              </a:rPr>
              <a:t>Gradient Boosting: MAE 1.70 days • RMSE 2.18 • R² 0.306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5285232"/>
            <a:ext cx="2240280" cy="329184"/>
          </a:xfrm>
          <a:prstGeom prst="roundRect">
            <a:avLst/>
          </a:prstGeom>
          <a:solidFill>
            <a:srgbClr val="E8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5303520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D8264"/>
                </a:solidFill>
                <a:latin typeface="Aptos"/>
              </a:rPr>
              <a:t>12.4% vs mean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What the model learns is interpretable.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Permutation importance highlights the strongest contributors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PCOS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5087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5BB4"/>
                </a:solidFill>
                <a:latin typeface="Aptos"/>
              </a:rPr>
              <a:t>0.250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572768"/>
            <a:ext cx="4572000" cy="228600"/>
          </a:xfrm>
          <a:prstGeom prst="rect">
            <a:avLst/>
          </a:prstGeom>
          <a:solidFill>
            <a:srgbClr val="48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5-cycle rolling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1762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5BB4"/>
                </a:solidFill>
                <a:latin typeface="Aptos"/>
              </a:rPr>
              <a:t>0.126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240279"/>
            <a:ext cx="2304288" cy="228600"/>
          </a:xfrm>
          <a:prstGeom prst="rect">
            <a:avLst/>
          </a:prstGeom>
          <a:solidFill>
            <a:srgbClr val="48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4378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3-cycle rolling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843784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5BB4"/>
                </a:solidFill>
                <a:latin typeface="Aptos"/>
              </a:rPr>
              <a:t>0.022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907791"/>
            <a:ext cx="402335" cy="228600"/>
          </a:xfrm>
          <a:prstGeom prst="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11296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BMI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511296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5BB4"/>
                </a:solidFill>
                <a:latin typeface="Aptos"/>
              </a:rPr>
              <a:t>0.013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575303"/>
            <a:ext cx="237744" cy="228600"/>
          </a:xfrm>
          <a:prstGeom prst="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Birth control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17880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5BB4"/>
                </a:solidFill>
                <a:latin typeface="Aptos"/>
              </a:rPr>
              <a:t>0.008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4242816"/>
            <a:ext cx="146304" cy="228600"/>
          </a:xfrm>
          <a:prstGeom prst="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146304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463040"/>
            <a:ext cx="64008" cy="3429000"/>
          </a:xfrm>
          <a:prstGeom prst="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66420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The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103120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Historical cycle patterns carry strong signal.
Profile / medical factors also contribute.
The output can be accompanied by a feature-importance view rather than presented as an unexplained number.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LIVE DEMO — the product has to work, not just look good.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Mandatory live prototype segment • ~2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492240" cy="4389120"/>
          </a:xfrm>
          <a:prstGeom prst="roundRect">
            <a:avLst/>
          </a:prstGeom>
          <a:solidFill>
            <a:srgbClr val="18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LIVE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5943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Enter → Predict → Explain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474720"/>
            <a:ext cx="1143000" cy="329184"/>
          </a:xfrm>
          <a:prstGeom prst="roundRect">
            <a:avLst/>
          </a:prstGeom>
          <a:solidFill>
            <a:srgbClr val="37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493008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AGE 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474720"/>
            <a:ext cx="1325880" cy="329184"/>
          </a:xfrm>
          <a:prstGeom prst="roundRect">
            <a:avLst/>
          </a:prstGeom>
          <a:solidFill>
            <a:srgbClr val="37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493008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BMI 22.8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474720"/>
            <a:ext cx="1508760" cy="329184"/>
          </a:xfrm>
          <a:prstGeom prst="roundRect">
            <a:avLst/>
          </a:prstGeom>
          <a:solidFill>
            <a:srgbClr val="37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3493008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CURRENT 28d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474720"/>
            <a:ext cx="914400" cy="329184"/>
          </a:xfrm>
          <a:prstGeom prst="roundRect">
            <a:avLst/>
          </a:prstGeom>
          <a:solidFill>
            <a:srgbClr val="37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493008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600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C23"/>
                </a:solidFill>
                <a:latin typeface="Aptos"/>
              </a:rPr>
              <a:t>Demo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148840"/>
            <a:ext cx="3794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81C23"/>
                </a:solidFill>
                <a:latin typeface="Aptos"/>
              </a:defRPr>
            </a:pPr>
            <a:r>
              <a:t>• Enter profile + current cycle</a:t>
            </a:r>
          </a:p>
          <a:p>
            <a:pPr>
              <a:spcAft>
                <a:spcPts val="800"/>
              </a:spcAft>
              <a:defRPr sz="1300">
                <a:solidFill>
                  <a:srgbClr val="181C23"/>
                </a:solidFill>
                <a:latin typeface="Aptos"/>
              </a:defRPr>
            </a:pPr>
            <a:r>
              <a:t>• Enter recent cycles: 28, 29, 27, 28, 30</a:t>
            </a:r>
          </a:p>
          <a:p>
            <a:pPr>
              <a:spcAft>
                <a:spcPts val="800"/>
              </a:spcAft>
              <a:defRPr sz="1300">
                <a:solidFill>
                  <a:srgbClr val="181C23"/>
                </a:solidFill>
                <a:latin typeface="Aptos"/>
              </a:defRPr>
            </a:pPr>
            <a:r>
              <a:t>• Click “Predict Next Cycle”</a:t>
            </a:r>
          </a:p>
          <a:p>
            <a:pPr>
              <a:spcAft>
                <a:spcPts val="800"/>
              </a:spcAft>
              <a:defRPr sz="1300">
                <a:solidFill>
                  <a:srgbClr val="181C23"/>
                </a:solidFill>
                <a:latin typeface="Aptos"/>
              </a:defRPr>
            </a:pPr>
            <a:r>
              <a:t>• Show ML estimate: 28.4 days</a:t>
            </a:r>
          </a:p>
          <a:p>
            <a:pPr>
              <a:spcAft>
                <a:spcPts val="800"/>
              </a:spcAft>
              <a:defRPr sz="1300">
                <a:solidFill>
                  <a:srgbClr val="181C23"/>
                </a:solidFill>
                <a:latin typeface="Aptos"/>
              </a:defRPr>
            </a:pPr>
            <a:r>
              <a:t>• Show model version + feature importance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07492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BE4C52"/>
                </a:solidFill>
                <a:latin typeface="Aptos"/>
              </a:rPr>
              <a:t>NOTE: The supplied documents specify this working-demo flow, but do not include the prototype source/app itself.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Behind the demo: a reproducible ML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Only the engineering detail needed to establish credibility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148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64008" cy="2423160"/>
          </a:xfrm>
          <a:prstGeom prst="rect">
            <a:avLst/>
          </a:prstGeom>
          <a:solidFill>
            <a:srgbClr val="48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73736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DVC
raw data + transformations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2148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1828800"/>
            <a:ext cx="64008" cy="2423160"/>
          </a:xfrm>
          <a:prstGeom prst="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20299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EXPERIMENTS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2468880"/>
            <a:ext cx="173736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MLflow
metrics + artifacts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828800"/>
            <a:ext cx="2148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59" y="1828800"/>
            <a:ext cx="64008" cy="2423160"/>
          </a:xfrm>
          <a:prstGeom prst="rect">
            <a:avLst/>
          </a:prstGeom>
          <a:solidFill>
            <a:srgbClr val="2D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20299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468880"/>
            <a:ext cx="173736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scikit-learn
Gradient Boosting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828800"/>
            <a:ext cx="2148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828800"/>
            <a:ext cx="64008" cy="2423160"/>
          </a:xfrm>
          <a:prstGeom prst="rect">
            <a:avLst/>
          </a:prstGeom>
          <a:solidFill>
            <a:srgbClr val="48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20299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468880"/>
            <a:ext cx="173736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FastAPI
inference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2148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1828800"/>
            <a:ext cx="64008" cy="2423160"/>
          </a:xfrm>
          <a:prstGeom prst="rect">
            <a:avLst/>
          </a:prstGeom>
          <a:solidFill>
            <a:srgbClr val="74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0299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UI /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468880"/>
            <a:ext cx="173736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Streamlit • Docker
GitHub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81C23"/>
                </a:solidFill>
                <a:latin typeface="Aptos"/>
              </a:rPr>
              <a:t>The architecture separates data, model inference and presentation so the prototype is reproducible and deployable.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The result is useful — and the limits are explicit.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Evidence and boundaries should travel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3474720"/>
          </a:xfrm>
          <a:prstGeom prst="rect">
            <a:avLst/>
          </a:prstGeom>
          <a:solidFill>
            <a:srgbClr val="2D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What the evidence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39"/>
            <a:ext cx="301752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MAE: 1.70 days
R²: 0.306
26.1% improvement over the previous-cycle baseline
No user overlap between train/test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3474720"/>
          </a:xfrm>
          <a:prstGeom prst="rect">
            <a:avLst/>
          </a:prstGeom>
          <a:solidFill>
            <a:srgbClr val="48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0992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What it enables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39"/>
            <a:ext cx="301752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More personalized cycle estimates
Historical-pattern insights
Explainable feature contribution
Reproducible ML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64008" cy="3474720"/>
          </a:xfrm>
          <a:prstGeom prst="rect">
            <a:avLst/>
          </a:prstGeom>
          <a:solidFill>
            <a:srgbClr val="BE4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0992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C23"/>
                </a:solidFill>
                <a:latin typeface="Aptos"/>
              </a:rPr>
              <a:t>What it does not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39"/>
            <a:ext cx="301752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370"/>
                </a:solidFill>
                <a:latin typeface="Aptos"/>
              </a:rPr>
              <a:t>Synthetic / educational dataset
Point prediction only — no uncertainty estimates
Static model requires retraining
Not medical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C23"/>
                </a:solidFill>
                <a:latin typeface="Aptos"/>
              </a:rPr>
              <a:t>Where CycleSense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70"/>
                </a:solidFill>
                <a:latin typeface="Aptos"/>
              </a:rPr>
              <a:t>The current prototype establishes the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85BB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C23"/>
                </a:solidFill>
                <a:latin typeface="Aptos"/>
              </a:rPr>
              <a:t>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Prediction intervals / quantile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64592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9202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85BB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51460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C23"/>
                </a:solidFill>
                <a:latin typeface="Aptos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15468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Cross-validation + stronger robustness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4592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85BB4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C23"/>
                </a:solidFill>
                <a:latin typeface="Aptos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Real-world health data, with appropriate safeguards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64592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9202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85BB4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51460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C23"/>
                </a:solidFill>
                <a:latin typeface="Aptos"/>
              </a:rPr>
              <a:t>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15468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User feedback + drift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CycleSense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CDFE8"/>
                </a:solidFill>
                <a:latin typeface="Aptos"/>
              </a:rPr>
              <a:t>A raw dataset → leakage-safe features → explainable model → working ML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8961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The value is not just the prediction.
It is the disciplined pipeline behind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417320" cy="329184"/>
          </a:xfrm>
          <a:prstGeom prst="roundRect">
            <a:avLst/>
          </a:prstGeom>
          <a:solidFill>
            <a:srgbClr val="3E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01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FB5C4"/>
                </a:solidFill>
                <a:latin typeface="Aptos"/>
              </a:rPr>
              <a:t>Educational demonstration • not medical 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370"/>
                </a:solidFill>
                <a:latin typeface="Aptos"/>
              </a:rPr>
              <a:t>CYCLESENSE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